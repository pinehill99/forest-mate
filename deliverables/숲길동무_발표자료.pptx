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ng9733/Documents/LYT Kit 2/forest-mate/assets/app_trail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9646920" y="1234440"/>
            <a:ext cx="2109399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62672" y="804672"/>
            <a:ext cx="2617107" cy="5522976"/>
          </a:xfrm>
          <a:prstGeom prst="roundRect">
            <a:avLst>
              <a:gd name="adj" fmla="val 6289"/>
            </a:avLst>
          </a:prstGeom>
          <a:solidFill>
            <a:srgbClr val="0E1F15"/>
          </a:solidFill>
          <a:ln/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4" name="Image 1" descr="/Users/dong9733/Documents/LYT Kit 2/forest-mate/assets/app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868680"/>
            <a:ext cx="2489091" cy="5394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868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「2026년 산림 공공데이터·AI 활용 창업경진대회」  제품 및 서비스 개발 부문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21792" y="16002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</a:t>
            </a:r>
            <a:endParaRPr lang="en-US" sz="8000" dirty="0"/>
          </a:p>
        </p:txBody>
      </p:sp>
      <p:sp>
        <p:nvSpPr>
          <p:cNvPr id="7" name="Text 3"/>
          <p:cNvSpPr/>
          <p:nvPr/>
        </p:nvSpPr>
        <p:spPr>
          <a:xfrm>
            <a:off x="685800" y="30632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ForestMate — 산림 공공데이터·AI 기반 국민 산행 안전 플랫폼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85800" y="37033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7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추천 → 위험 경고 → 조난 자동 감지 → 관제 대응,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7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산행의 전 과정을 하나의 데이터 파이프라인으로 지킵니다.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85800" y="484632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4835347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공공데이터 10종 융합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063240" y="48463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3063240" y="4835347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엔진 5종 탑재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37760" y="48463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>
            <a:off x="4937760" y="4835347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iOS·Android·웹 동시 지원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8580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【팀명 기재】</a:t>
            </a:r>
            <a:pPr indent="0" marL="0">
              <a:buNone/>
            </a:pPr>
            <a:r>
              <a:rPr lang="en-US" sz="1300" dirty="0">
                <a:solidFill>
                  <a:srgbClr val="9DB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2026. 6.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해마다 1만 건 — 산에서 골든타임이 사라지고 있습니다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3749040" cy="4297680"/>
          </a:xfrm>
          <a:prstGeom prst="roundRect">
            <a:avLst>
              <a:gd name="adj" fmla="val 2195"/>
            </a:avLst>
          </a:prstGeom>
          <a:solidFill>
            <a:srgbClr val="F2F7F1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38528"/>
            <a:ext cx="603504" cy="603504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626" y="2101474"/>
            <a:ext cx="277612" cy="2776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연평균 산악사고 구조활동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41248" y="3017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10,443</a:t>
            </a:r>
            <a:pPr indent="0" marL="0">
              <a:buNone/>
            </a:pPr>
            <a:r>
              <a:rPr lang="en-US" sz="20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건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868680" y="40416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3년 누계 31,330건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 325명 · 부상 6,348명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50749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5063947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1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인명피해 11~15시 낮 시간 집중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26280" y="1627632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0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인명피해의 주말 집중</a:t>
            </a:r>
            <a:endParaRPr lang="en-US" sz="1400" dirty="0"/>
          </a:p>
        </p:txBody>
      </p:sp>
      <p:pic>
        <p:nvPicPr>
          <p:cNvPr id="16" name="Image 1" descr="/Users/dong9733/Documents/LYT Kit 2/forest-mate/assets/donut_week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331720"/>
            <a:ext cx="2542032" cy="227530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5488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등산객이 몰리는 주말, 구조 수요도 함께 폭증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275320" y="1627632"/>
            <a:ext cx="3383280" cy="42976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503920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3년 인명피해 합계</a:t>
            </a:r>
            <a:endParaRPr lang="en-US" sz="1400" dirty="0"/>
          </a:p>
        </p:txBody>
      </p:sp>
      <p:pic>
        <p:nvPicPr>
          <p:cNvPr id="20" name="Image 2" descr="/Users/dong9733/Documents/LYT Kit 2/forest-mate/assets/bar_casual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423160"/>
            <a:ext cx="2907792" cy="20646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5074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41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‘신고조차 못 하는 조난’이 가장 치명적 — 실신·추락 시 골든타임은 신고 없이 흘러갑니다.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66928" y="60533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소방청 구조활동 통계(2022–2024), 정책브리핑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산을 찾는 세대가, 가장 위험합니다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65836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7" name="Image 0" descr="/Users/dong9733/Documents/LYT Kit 2/forest-mate/assets/chart_popu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93392"/>
            <a:ext cx="6254496" cy="2995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52360" y="1627632"/>
            <a:ext cx="4187952" cy="1325880"/>
          </a:xfrm>
          <a:prstGeom prst="roundRect">
            <a:avLst>
              <a:gd name="adj" fmla="val 6207"/>
            </a:avLst>
          </a:prstGeom>
          <a:solidFill>
            <a:srgbClr val="F2F7F1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80960" y="2011680"/>
            <a:ext cx="548640" cy="54864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093" y="215981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0" y="179222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78%, 3,229만 명이 월 1회 이상 산행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412480" y="234086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 야외활동 압도적 1위 — 그러나 안전 서비스는 공백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452360" y="3118104"/>
            <a:ext cx="418795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680960" y="3502152"/>
            <a:ext cx="548640" cy="54864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093" y="3650285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328269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등산 앱은 ‘기록·자랑’ 중심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412480" y="383133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사고를 막는 기능은 수동 신고 버튼 수준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452360" y="4608576"/>
            <a:ext cx="418795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680960" y="4992624"/>
            <a:ext cx="548640" cy="54864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93" y="5140757"/>
            <a:ext cx="252374" cy="25237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12480" y="47731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 데이터는 기관 사이트에 분산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412480" y="53218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산불위험예보·산사태지도·산악기상 — 국민이 체감 못 함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— 산행의 전 과정을 지키는 AI 안전 플랫폼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103120"/>
            <a:ext cx="713232" cy="71323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245" y="2295693"/>
            <a:ext cx="328087" cy="3280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— 예방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맞춤 코스 추천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04672" y="3785616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체력·위험지수·혼잡 반영, 오늘 갈 만한 안전한 산을 한 화면에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246120" y="30632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506724" y="178308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62756" y="2103120"/>
            <a:ext cx="713232" cy="71323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29" y="2295693"/>
            <a:ext cx="328087" cy="3280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62756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— 감시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762756" y="33101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위험 경고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3762756" y="3785616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산사태·낙석·기상 급변 구간 300m 전 푸시 경고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204204" y="30632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464808" y="178308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720840" y="2103120"/>
            <a:ext cx="713232" cy="713232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413" y="2295693"/>
            <a:ext cx="328087" cy="32808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2084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— 대응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720840" y="33101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조난 자동 감지·SOS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6720840" y="3785616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이동·심박 이상 감지 → 보호자·119 자동 전파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9162288" y="30632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9422892" y="178308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678924" y="2103120"/>
            <a:ext cx="713232" cy="713232"/>
          </a:xfrm>
          <a:prstGeom prst="ellipse">
            <a:avLst/>
          </a:prstGeom>
          <a:solidFill>
            <a:srgbClr val="E0EAF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1497" y="2295693"/>
            <a:ext cx="328087" cy="32808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678924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— 관제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678924" y="33101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B2G 대시보드</a:t>
            </a:r>
            <a:endParaRPr lang="en-US" sz="1650" dirty="0"/>
          </a:p>
        </p:txBody>
      </p:sp>
      <p:sp>
        <p:nvSpPr>
          <p:cNvPr id="32" name="Text 26"/>
          <p:cNvSpPr/>
          <p:nvPr/>
        </p:nvSpPr>
        <p:spPr>
          <a:xfrm>
            <a:off x="9678924" y="3785616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지자체·소방 실시간 관제로 구조 골든타임 단축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48640" y="534924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1B4332"/>
          </a:solidFill>
          <a:ln/>
        </p:spPr>
      </p:sp>
      <p:sp>
        <p:nvSpPr>
          <p:cNvPr id="34" name="Text 28"/>
          <p:cNvSpPr/>
          <p:nvPr/>
        </p:nvSpPr>
        <p:spPr>
          <a:xfrm>
            <a:off x="822960" y="534924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공공데이터 10종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×  </a:t>
            </a:r>
            <a:pPr indent="0" marL="0">
              <a:buNone/>
            </a:pPr>
            <a:r>
              <a:rPr lang="en-US" sz="1550" b="1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엔진 5종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 ‘사후 신고’에서 ‘사전 감지’로 패러다임을 바꿉니다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기능이 산림 공공데이터 위에서 동작합니다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47672"/>
            <a:ext cx="118872" cy="11887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8745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데이터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등산로 공간정보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243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산림청 · 공공데이터포털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 DB·이탈 감지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16352" y="17830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17520" y="1947672"/>
            <a:ext cx="118872" cy="11887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9544" y="18745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데이터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99232" y="214884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산불위험예보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99232" y="26243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국립산림과학원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99232" y="28803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산행지수·입산통제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84064" y="17830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85232" y="1947672"/>
            <a:ext cx="118872" cy="11887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0" name="Text 18"/>
          <p:cNvSpPr/>
          <p:nvPr/>
        </p:nvSpPr>
        <p:spPr>
          <a:xfrm>
            <a:off x="5477256" y="18745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데이터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66944" y="214884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산악기상관측망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66944" y="26243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국립산림과학원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66944" y="28803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고지대 실측 기상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51776" y="17830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52944" y="1947672"/>
            <a:ext cx="118872" cy="11887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6" name="Text 24"/>
          <p:cNvSpPr/>
          <p:nvPr/>
        </p:nvSpPr>
        <p:spPr>
          <a:xfrm>
            <a:off x="7744968" y="18745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데이터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34656" y="214884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산사태 위험지도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34656" y="26243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산림청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34656" y="28803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위험구간 경고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19488" y="17830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820656" y="1947672"/>
            <a:ext cx="118872" cy="11887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2" name="Text 30"/>
          <p:cNvSpPr/>
          <p:nvPr/>
        </p:nvSpPr>
        <p:spPr>
          <a:xfrm>
            <a:off x="10012680" y="18745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데이터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802368" y="214884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국가생물종지식정보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802368" y="26243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국립수목원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802368" y="28803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독버섯·식물 AI 학습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3410712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9808" y="3575304"/>
            <a:ext cx="118872" cy="11887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8" name="Text 36"/>
          <p:cNvSpPr/>
          <p:nvPr/>
        </p:nvSpPr>
        <p:spPr>
          <a:xfrm>
            <a:off x="941832" y="3502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데이터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1520" y="37764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휴양림·치유의숲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" y="42519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한국산림복지진흥원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450799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치유 프로그램 연계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816352" y="3410712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017520" y="3575304"/>
            <a:ext cx="118872" cy="11887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4" name="Text 42"/>
          <p:cNvSpPr/>
          <p:nvPr/>
        </p:nvSpPr>
        <p:spPr>
          <a:xfrm>
            <a:off x="3209544" y="3502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데이터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999232" y="37764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 방문 빅데이터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999232" y="42519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산림빅데이터 거래소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999232" y="450799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혼잡도·수요예측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84064" y="3410712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285232" y="3575304"/>
            <a:ext cx="118872" cy="118872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50" name="Text 48"/>
          <p:cNvSpPr/>
          <p:nvPr/>
        </p:nvSpPr>
        <p:spPr>
          <a:xfrm>
            <a:off x="5477256" y="3502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57B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융복합(타 분야)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266944" y="37764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산악사고 구조현황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66944" y="42519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소방청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66944" y="450799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다발구간 학습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351776" y="3410712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552944" y="3575304"/>
            <a:ext cx="118872" cy="118872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56" name="Text 54"/>
          <p:cNvSpPr/>
          <p:nvPr/>
        </p:nvSpPr>
        <p:spPr>
          <a:xfrm>
            <a:off x="7744968" y="3502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57B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융복합(타 분야)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534656" y="37764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국가지점번호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534656" y="42519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행정안전부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534656" y="450799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위치 표준 전달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619488" y="3410712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820656" y="3575304"/>
            <a:ext cx="118872" cy="118872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62" name="Text 60"/>
          <p:cNvSpPr/>
          <p:nvPr/>
        </p:nvSpPr>
        <p:spPr>
          <a:xfrm>
            <a:off x="10012680" y="3502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57B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융복합(타 분야)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802368" y="37764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단기예보 API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802368" y="42519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802368" y="450799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강수·일몰 알림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7F1"/>
          </a:solidFill>
          <a:ln w="9525">
            <a:solidFill>
              <a:srgbClr val="D7E3D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2960" y="5285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 융합 스코어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산사태등급 × 산악기상 실측 × 사고이력 × 강우예보를 100m 구간마다 결합 — 단순 조회가 아닌 교차 도메인 융합이 핵심 자산입니다. 익명 산행 통계는 기관에 환류(양방향).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01 — 예방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산행지수, 네 가지 공공데이터가 한 점수로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238305" y="1627632"/>
            <a:ext cx="2237415" cy="4700016"/>
          </a:xfrm>
          <a:prstGeom prst="roundRect">
            <a:avLst>
              <a:gd name="adj" fmla="val 7356"/>
            </a:avLst>
          </a:prstGeom>
          <a:solidFill>
            <a:srgbClr val="0E1F15"/>
          </a:solidFill>
          <a:ln/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7" name="Image 0" descr="/Users/dong9733/Documents/LYT Kit 2/forest-mate/assets/app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2313" y="1691640"/>
            <a:ext cx="2109399" cy="457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65376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7" y="200363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07592" y="1828800"/>
            <a:ext cx="73089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산행지수 0~100점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07592" y="2194560"/>
            <a:ext cx="7308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산불위험예보 + 산사태등급 + 산악기상 실측 + 일몰시각을 융합한 오늘의 ‘갈까 말까’ 단일 지표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94360" y="2944368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" y="3082625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07592" y="2907792"/>
            <a:ext cx="73089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맞춤 코스 추천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07592" y="3273552"/>
            <a:ext cx="7308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 프로파일·무릎 부상 이력·혼잡 예측까지 반영한 개인화 추천 (매칭률 표시)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94360" y="4023360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17" y="4161617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07592" y="3986784"/>
            <a:ext cx="73089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브리핑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07592" y="4352544"/>
            <a:ext cx="7308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소방청 사고 통계 학습 — ‘주말 11~15시 집중’ 같은 행동 가이드를 선제 제공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94360" y="517550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1" name="Text 15"/>
          <p:cNvSpPr/>
          <p:nvPr/>
        </p:nvSpPr>
        <p:spPr>
          <a:xfrm>
            <a:off x="594360" y="5164531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산불위험예보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2176272" y="517550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3" name="Text 17"/>
          <p:cNvSpPr/>
          <p:nvPr/>
        </p:nvSpPr>
        <p:spPr>
          <a:xfrm>
            <a:off x="2176272" y="5164531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산악기상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38144" y="517550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5" name="Text 19"/>
          <p:cNvSpPr/>
          <p:nvPr/>
        </p:nvSpPr>
        <p:spPr>
          <a:xfrm>
            <a:off x="3438144" y="5164531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산사태지도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837176" y="5175504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7" name="Text 21"/>
          <p:cNvSpPr/>
          <p:nvPr/>
        </p:nvSpPr>
        <p:spPr>
          <a:xfrm>
            <a:off x="4837176" y="5164531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 예보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02 — 감시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위험구간 300m 앞, 앱이 먼저 알아챕니다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13232" y="1627632"/>
            <a:ext cx="2237415" cy="4700016"/>
          </a:xfrm>
          <a:prstGeom prst="roundRect">
            <a:avLst>
              <a:gd name="adj" fmla="val 7356"/>
            </a:avLst>
          </a:prstGeom>
          <a:solidFill>
            <a:srgbClr val="0E1F15"/>
          </a:solidFill>
          <a:ln/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7" name="Image 0" descr="/Users/dong9733/Documents/LYT Kit 2/forest-mate/assets/app_tr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109399" cy="457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89559" y="1865376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816" y="200363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02791" y="1828800"/>
            <a:ext cx="75375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등산로 위 실시간 내비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102791" y="2194560"/>
            <a:ext cx="75375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산림청 등산로 공간정보 기반 — 코스 이탈 시 즉시 알림, 오프라인 지도 기본 탑재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389559" y="2944368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816" y="3082625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02791" y="2907792"/>
            <a:ext cx="75375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위험도 실시간 경고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102791" y="3273552"/>
            <a:ext cx="75375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산사태 1등급 + 최근 강우 + 사고 이력 구간 접근 시 푸시·우회로 안내 (수락률 91% 목표)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389559" y="4023360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7816" y="4161617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02791" y="3986784"/>
            <a:ext cx="75375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국가지점번호 상시 표시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102791" y="4352544"/>
            <a:ext cx="75375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행정안전부 위치 표준을 화면에 상시 노출 — 신고 시 그대로 불러주면 끝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389559" y="5175504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1" name="Text 15"/>
          <p:cNvSpPr/>
          <p:nvPr/>
        </p:nvSpPr>
        <p:spPr>
          <a:xfrm>
            <a:off x="3389559" y="5164531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일몰 카운트다운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108631" y="517550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3" name="Text 17"/>
          <p:cNvSpPr/>
          <p:nvPr/>
        </p:nvSpPr>
        <p:spPr>
          <a:xfrm>
            <a:off x="5108631" y="5164531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위치 공유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690543" y="5175504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5" name="Text 19"/>
          <p:cNvSpPr/>
          <p:nvPr/>
        </p:nvSpPr>
        <p:spPr>
          <a:xfrm>
            <a:off x="6690543" y="5164531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음영지역 대응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03 — AI 동무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독버섯을 먹기 전에, AI가 먼저 말립니다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238305" y="1627632"/>
            <a:ext cx="2237415" cy="4700016"/>
          </a:xfrm>
          <a:prstGeom prst="roundRect">
            <a:avLst>
              <a:gd name="adj" fmla="val 7356"/>
            </a:avLst>
          </a:prstGeom>
          <a:solidFill>
            <a:srgbClr val="0E1F15"/>
          </a:solidFill>
          <a:ln/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7" name="Image 0" descr="/Users/dong9733/Documents/LYT Kit 2/forest-mate/assets/app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2313" y="1691640"/>
            <a:ext cx="2109399" cy="457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65376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7" y="200363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07592" y="1828800"/>
            <a:ext cx="73089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 AI ‘숲이’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07592" y="2194560"/>
            <a:ext cx="7308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한 장으로 식물·버섯 판별 — 개나리광대버섯(맹독성) 87% 같은 즉각 경고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94360" y="2944368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" y="3082625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07592" y="2907792"/>
            <a:ext cx="73089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 1차 판별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07592" y="3273552"/>
            <a:ext cx="7308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국립수목원 도감 데이터로 학습한 경량 모델을 단말 탑재 — 통신이 끊겨도 동작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94360" y="4023360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17" y="4161617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07592" y="3986784"/>
            <a:ext cx="73089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언어 RAG 해설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07592" y="4352544"/>
            <a:ext cx="7308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공공 지식베이스 근거 답변(한·영·중·일) — K-하이킹 인바운드 관광 안전망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94360" y="517550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1" name="Text 15"/>
          <p:cNvSpPr/>
          <p:nvPr/>
        </p:nvSpPr>
        <p:spPr>
          <a:xfrm>
            <a:off x="594360" y="5164531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국가생물종지식정보 학습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2862072" y="5175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3" name="Text 17"/>
          <p:cNvSpPr/>
          <p:nvPr/>
        </p:nvSpPr>
        <p:spPr>
          <a:xfrm>
            <a:off x="2862072" y="5164531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억제 RAG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89704" y="517550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5" name="Text 19"/>
          <p:cNvSpPr/>
          <p:nvPr/>
        </p:nvSpPr>
        <p:spPr>
          <a:xfrm>
            <a:off x="4489704" y="5164531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대화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04 — 대응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신고할 수 없는 순간, 시스템이 먼저 움직입니다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2216321" cy="4654296"/>
          </a:xfrm>
          <a:prstGeom prst="roundRect">
            <a:avLst>
              <a:gd name="adj" fmla="val 7426"/>
            </a:avLst>
          </a:prstGeom>
          <a:solidFill>
            <a:srgbClr val="0E1F15"/>
          </a:solidFill>
          <a:ln/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7" name="Image 0" descr="/Users/dong9733/Documents/LYT Kit 2/forest-mate/assets/app_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64208"/>
            <a:ext cx="2088305" cy="4526280"/>
          </a:xfrm>
          <a:prstGeom prst="rect">
            <a:avLst/>
          </a:prstGeom>
        </p:spPr>
      </p:pic>
      <p:pic>
        <p:nvPicPr>
          <p:cNvPr id="8" name="Image 1" descr="/Users/dong9733/Documents/LYT Kit 2/forest-mate/assets/diagram_gold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745" y="1783080"/>
            <a:ext cx="8138160" cy="23092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22745" y="4320916"/>
            <a:ext cx="2596896" cy="1783080"/>
          </a:xfrm>
          <a:prstGeom prst="roundRect">
            <a:avLst>
              <a:gd name="adj" fmla="val 4615"/>
            </a:avLst>
          </a:prstGeom>
          <a:solidFill>
            <a:srgbClr val="FDECEC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523913" y="44855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41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조난 감지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523913" y="485126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멈춤 30분 + 심박 이상 → AI가 조난 의심 스코어 산출, 사용자 무응답 시 자동 전파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84233" y="4320916"/>
            <a:ext cx="25968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285401" y="44855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원터치 SOS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285401" y="485126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길게 누르면 국가지점번호·GPS·최근접 구조거점이 119 메시지로 자동 구성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845721" y="4320916"/>
            <a:ext cx="25968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046889" y="44855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LTE 음영 대응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9046889" y="485126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불가 시 SMS 폴백 + 마지막 위치 보호자 공유 — 수색 범위 최소화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05 — 관제 (B2G)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지자체·소방이 같은 화면을 봅니다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7178040" cy="4721352"/>
          </a:xfrm>
          <a:prstGeom prst="roundRect">
            <a:avLst>
              <a:gd name="adj" fmla="val 1549"/>
            </a:avLst>
          </a:prstGeom>
          <a:solidFill>
            <a:srgbClr val="0E1A13"/>
          </a:solidFill>
          <a:ln/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7" name="Image 0" descr="/Users/dong9733/Documents/LYT Kit 2/forest-mate/asse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7086600" cy="4629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1828800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257" y="1967057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77656" y="1801368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산행자 분포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677656" y="2157984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익명화(k≥50) 히트맵 — 혼잡·위험 구역 즉시 식별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01000" y="3035808"/>
            <a:ext cx="512064" cy="512064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257" y="3174065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77656" y="3008376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SOS·조난의심 사건 추적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677656" y="3364992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구조거점 매칭, 헬기·구조대 동선 한 화면 관제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01000" y="4242816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257" y="4381073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77656" y="4215384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수요예측 리포트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677656" y="45720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입산 예측 — 안전요원·시설 배치 근거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001000" y="5495544"/>
            <a:ext cx="3611880" cy="960120"/>
          </a:xfrm>
          <a:prstGeom prst="roundRect">
            <a:avLst>
              <a:gd name="adj" fmla="val 8571"/>
            </a:avLst>
          </a:prstGeom>
          <a:solidFill>
            <a:srgbClr val="1B4332"/>
          </a:solidFill>
          <a:ln/>
        </p:spPr>
      </p:sp>
      <p:sp>
        <p:nvSpPr>
          <p:cNvPr id="21" name="Text 15"/>
          <p:cNvSpPr/>
          <p:nvPr/>
        </p:nvSpPr>
        <p:spPr>
          <a:xfrm>
            <a:off x="8202168" y="549554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도달시간 33분 → 23분</a:t>
            </a:r>
            <a:endParaRPr lang="en-US" sz="1350" dirty="0"/>
          </a:p>
          <a:p>
            <a:pPr indent="0" marL="0">
              <a:buNone/>
            </a:pPr>
            <a:r>
              <a:rPr lang="en-US" sz="950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특정 자동화로 30% 단축 (시뮬레이션 목표)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스택 위의 AI 5종 엔진</a:t>
            </a:r>
            <a:endParaRPr lang="en-US" sz="2700" dirty="0"/>
          </a:p>
        </p:txBody>
      </p:sp>
      <p:pic>
        <p:nvPicPr>
          <p:cNvPr id="6" name="Image 0" descr="/Users/dong9733/Documents/LYT Kit 2/forest-mate/assets/diagram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7315200" cy="38061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1783080"/>
            <a:ext cx="34747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30184" y="1938528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897112" y="1874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 추천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897112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필터링 + 체력 프로파일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183880" y="2624328"/>
            <a:ext cx="34747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30184" y="2779776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897112" y="2715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조난위험 예측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897112" y="30083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이상탐지 (LSTM-AE)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83880" y="3465576"/>
            <a:ext cx="34747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30184" y="3621024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97112" y="35570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 융합 스코어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897112" y="3849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— 구간별 0~100점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183880" y="4306824"/>
            <a:ext cx="34747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330184" y="4462272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897112" y="43982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식물·독버섯 판별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897112" y="4690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EfficientNet 경량화·온디바이스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183880" y="5148072"/>
            <a:ext cx="34747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330184" y="5303520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897112" y="5239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숲해설 LLM ‘숲이’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897112" y="5532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sLLM + RAG·4개 언어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Flutter(iOS·Android 단일 코드)  ·  React 관제 웹  ·  FastAPI  ·  PostGIS  ·  Airflow ETL  ·  AWS EKS  ·  TFLite 온디바이스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‘운동 기록 앱’과는 출발점이 다릅니다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48840"/>
                <a:gridCol w="2148840"/>
                <a:gridCol w="2377440"/>
                <a:gridCol w="2404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트랭글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램블러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국립공원공단 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숲길동무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B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가치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 기록·배지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GPS 트랙·커뮤니티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공원 정보 안내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산행 전 과정 안전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B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공공데이터 활용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등산로 일부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 위주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정보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10종 실시간 융합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B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 경고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통제구간 공지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 위험도 푸시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B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조난 대응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신고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신고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신고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자동 감지·전파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B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관제(B2G)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지자체·소방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B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추천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5종 엔진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806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독창성 한 줄 — </a:t>
            </a:r>
            <a:pPr indent="0" marL="0">
              <a:buNone/>
            </a:pPr>
            <a:r>
              <a:rPr lang="en-US" sz="130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예방→감시→대응→관제를 하나의 공공데이터 파이프라인으로 잇는 국내 유일 ‘안전 풀체인’. 조난을 ‘신고받는’ 것이 아니라 ‘감지하는’ 첫 서비스.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안전은 공공의 가치이자, 지불 의사가 있는 시장입니다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7004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2048256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167" y="2201327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8096" y="274320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B2C 프리미엄 구독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8096" y="31089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4,900원 — 오프라인 지도·가족 안심 확대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1828800"/>
            <a:ext cx="267004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2736" y="2048256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807" y="2201327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2736" y="274320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 안심보험 제휴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02736" y="31089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990원~ 인앱 판매, 수수료 15%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267004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68096" y="4059936"/>
            <a:ext cx="566928" cy="566928"/>
          </a:xfrm>
          <a:prstGeom prst="ellipse">
            <a:avLst/>
          </a:prstGeom>
          <a:solidFill>
            <a:srgbClr val="E0EA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167" y="4213007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8096" y="475488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B2G 관제 SaaS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68096" y="512064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기관당 연 3~8천만 원 라이선스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383280" y="3840480"/>
            <a:ext cx="267004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02736" y="4059936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5807" y="4213007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602736" y="475488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제휴·커머스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3602736" y="512064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휴양림 예약 5~10% · 브랜드 제휴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400800" y="1783080"/>
            <a:ext cx="523951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27" name="Image 4" descr="/Users/dong9733/Documents/LYT Kit 2/forest-mate/assets/chart_reven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011680"/>
            <a:ext cx="4800600" cy="220392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6675120" y="46177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/>
        </p:spPr>
      </p:sp>
      <p:sp>
        <p:nvSpPr>
          <p:cNvPr id="29" name="Text 22"/>
          <p:cNvSpPr/>
          <p:nvPr/>
        </p:nvSpPr>
        <p:spPr>
          <a:xfrm>
            <a:off x="6675120" y="4606747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4억 → 18.5억 → 50억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9281160" y="46177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31" name="Text 24"/>
          <p:cNvSpPr/>
          <p:nvPr/>
        </p:nvSpPr>
        <p:spPr>
          <a:xfrm>
            <a:off x="9281160" y="4606747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MAU 8만 → 35만 → 90만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675120" y="51389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가정: 유료 전환율 4→6%, B2G 2→10개 기관 · 자체 추정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SOCIAL IMPACT &amp; 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약속하는 사회적 가치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29968"/>
            <a:ext cx="640080" cy="640080"/>
          </a:xfrm>
          <a:prstGeom prst="ellipse">
            <a:avLst/>
          </a:prstGeom>
          <a:solidFill>
            <a:srgbClr val="FFF3E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30" y="2202790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9385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골든타임 30% 단축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554480" y="23225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도달 33분 → 23분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15968" y="175564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17136" y="2029968"/>
            <a:ext cx="640080" cy="64008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958" y="2202790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1808" y="19385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위험구간 사전 회피 90%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321808" y="23225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수신자 우회 (시범 목표)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83296" y="175564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84464" y="2029968"/>
            <a:ext cx="640080" cy="640080"/>
          </a:xfrm>
          <a:prstGeom prst="ellipse">
            <a:avLst/>
          </a:prstGeom>
          <a:solidFill>
            <a:srgbClr val="FFF3E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286" y="2202790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89136" y="19385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안심 20만 가구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089136" y="23225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60대+ 산행 1위 세대 보호</a:t>
            </a:r>
            <a:endParaRPr lang="en-US" sz="1050" dirty="0"/>
          </a:p>
        </p:txBody>
      </p:sp>
      <p:pic>
        <p:nvPicPr>
          <p:cNvPr id="21" name="Image 3" descr="/Users/dong9733/Documents/LYT Kit 2/forest-mate/assets/road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91840"/>
            <a:ext cx="7315200" cy="27532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83880" y="34290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산림복지 — 치유의숲·휴양림 연계로 접근성 확대</a:t>
            </a:r>
            <a:endParaRPr lang="en-US" sz="115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지역경제 — 혼잡 분산 추천이 지방 명산·산촌 관광 수요 창출</a:t>
            </a:r>
            <a:endParaRPr lang="en-US" sz="115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환류 — 익명 통계를 숲길 정비·안전시설 투자 근거로 제공</a:t>
            </a:r>
            <a:endParaRPr lang="en-US" sz="115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효율 — 불필요 출동 감소, 119 자원 최적 운용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넘어,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생명을 지키는 산행 데이터로.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101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FE7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숲길동무는 산림 공공데이터가 국민의 생명과 만나는 가장 짧은 길입니다.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FE7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보신 모든 화면은 실제 구동 중인 프로토타입입니다 — 현장 시연으로 증명하겠습니다.</a:t>
            </a:r>
            <a:endParaRPr lang="en-US" sz="1500" dirty="0"/>
          </a:p>
        </p:txBody>
      </p:sp>
      <p:pic>
        <p:nvPicPr>
          <p:cNvPr id="7" name="Image 0" descr="/Users/dong9733/Documents/LYT Kit 2/forest-mate/assets/app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24528"/>
            <a:ext cx="928136" cy="2011680"/>
          </a:xfrm>
          <a:prstGeom prst="rect">
            <a:avLst/>
          </a:prstGeom>
        </p:spPr>
      </p:pic>
      <p:pic>
        <p:nvPicPr>
          <p:cNvPr id="8" name="Image 1" descr="/Users/dong9733/Documents/LYT Kit 2/forest-mate/assets/app_tr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424" y="4224528"/>
            <a:ext cx="928136" cy="2011680"/>
          </a:xfrm>
          <a:prstGeom prst="rect">
            <a:avLst/>
          </a:prstGeom>
        </p:spPr>
      </p:pic>
      <p:pic>
        <p:nvPicPr>
          <p:cNvPr id="9" name="Image 2" descr="/Users/dong9733/Documents/LYT Kit 2/forest-mate/assets/app_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67" y="4224528"/>
            <a:ext cx="928136" cy="2011680"/>
          </a:xfrm>
          <a:prstGeom prst="rect">
            <a:avLst/>
          </a:prstGeom>
        </p:spPr>
      </p:pic>
      <p:pic>
        <p:nvPicPr>
          <p:cNvPr id="10" name="Image 3" descr="/Users/dong9733/Documents/LYT Kit 2/forest-mate/assets/app_s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911" y="4224528"/>
            <a:ext cx="928136" cy="2011680"/>
          </a:xfrm>
          <a:prstGeom prst="rect">
            <a:avLst/>
          </a:prstGeom>
        </p:spPr>
      </p:pic>
      <p:pic>
        <p:nvPicPr>
          <p:cNvPr id="11" name="Image 4" descr="/Users/dong9733/Documents/LYT Kit 2/forest-mate/assets/app_m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1654" y="4224528"/>
            <a:ext cx="928136" cy="20116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949440" y="5989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 </a:t>
            </a:r>
            <a:pPr algn="r" indent="0" marL="0">
              <a:buNone/>
            </a:pPr>
            <a:r>
              <a:rPr lang="en-US" sz="1300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숲길동무 ForestMate — 팀 【팀명 기재】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숲길동무 — 2026 산림 공공데이터·AI 활용 창업경진대회</dc:title>
  <dc:subject>PptxGenJS Presentation</dc:subject>
  <dc:creator>ForestMate Team</dc:creator>
  <cp:lastModifiedBy>ForestMate Team</cp:lastModifiedBy>
  <cp:revision>1</cp:revision>
  <dcterms:created xsi:type="dcterms:W3CDTF">2026-06-12T13:46:17Z</dcterms:created>
  <dcterms:modified xsi:type="dcterms:W3CDTF">2026-06-12T13:46:17Z</dcterms:modified>
</cp:coreProperties>
</file>